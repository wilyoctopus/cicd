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73" r:id="rId5"/>
    <p:sldId id="263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62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4C1E-3B56-4DEE-A8BB-2CCF62E4E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FEE84-BC84-4411-A22F-4F06B5D0E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2BAD2-E998-4952-B87C-92F20544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86431-CFC7-464A-92F9-42229AE1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B1B43-9D3E-480A-B0EC-56C36615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7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1973-0B0B-4343-9616-6336EC49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14AA4-76E9-4871-98A4-093351860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B0F4-B1C1-4FAC-B3E1-410D586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7DCC-6957-456E-B412-B49D4DAA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423F-55AC-4AF5-B976-F407DEB6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99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A6F2-E203-49E2-A1BB-61B93CA3B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D355D-504A-4342-BF3E-CA6544EB8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1080C-829F-4793-AA18-9A038B5C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E068B-357E-4ACD-979D-C0E5679D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85F4D-DE71-4A5A-8C3F-1F41D403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7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DC5B-44FD-413F-BD59-4D989525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F753-82AC-4F8A-A6CD-807BF355D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DBF9-49B1-47C0-A91D-2A55B5DE3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36165-0669-4789-8521-E7340177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BD3BC-53AD-444D-8425-BD5EFBAD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70C20-12BC-4B8F-A7AF-4AA7325B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5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1EE5-781B-4392-80F5-CBCA3AB3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1E2B7-D590-467E-BE11-7BCC89333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B6968-446E-4A5C-B155-BE6508726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5C7A-3A3C-4FE8-9619-3461E4255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DA849-BDBD-4AC5-8C45-E681C53FE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D4AEA-E87E-4534-8666-CA83AFF5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36BBC-055B-406B-868B-B7D578A5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9084B-9EBE-453A-9598-8B79A9BB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4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44E7-CAAA-4D0F-B463-7DAF7EB1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30FD4-77E8-4A16-9951-F9606C2A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7E395-377A-4DC8-89FA-A749A403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9D3AD-A5C0-4167-80C2-A5C2B16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7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CBFF1-D0FA-4663-AC9D-2757CF6C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0DA81F-8E41-4A90-9617-F8602B89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7C809-125C-4D25-BD02-EC07793C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7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336E-8B63-44A2-8EE2-FEEF2FDC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2BC1-6FE9-4A92-9FB2-22B7A023F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39DFA-43CB-4E09-8944-48C8D254C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41359-E38D-44C3-87A1-890C897F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04D1C-15E4-4C0F-90E7-5ACE5866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04EC2-AD2F-4A3D-9563-80D53D2C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9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06A5-0A46-4E6B-9998-6AB792FE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BEE60-AAC5-45A6-8535-D1703C9EE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29ACB-D6D7-4F4E-B2DB-BF179A295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9C507-27A8-43AB-975D-AA3FC3CA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FF83-171D-40C1-985A-31816DBB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D3608-BCE1-47B7-A7EE-A401CE70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3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B53B-2BF2-4E7B-8A3D-FC397AC0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F0590-FFBB-4268-B606-38D808B62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55E3C-4A19-41FE-B6BC-364F4C51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C5900-9663-49AF-B7AF-6E6A5917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1D896-EFC5-4ACF-B1FD-AE623D3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6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71966-8C7C-435E-89C4-08C1380ED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9CE0D-8B13-4A70-BA75-A535E3D2D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5C51-FE76-41B2-8606-3EB4F04F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0BD27-7FE0-43F6-A8DF-53E200413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7EDA5-6185-441B-864C-358FA336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5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E3C9B-990B-421B-BD40-1EFD7737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F1219-573A-4CCE-960D-6F4B9CCA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A65F-271E-4FD7-8570-E729D6A28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9400D-7B09-4572-8A27-9F08AB9D65AA}" type="datetimeFigureOut">
              <a:rPr lang="en-US" smtClean="0"/>
              <a:t>1/19/2021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81D62-8276-41FC-8BFB-5B2D4ED52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788A-0E57-4ED9-A986-883EFEB94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8DA39-81CE-4602-9F85-B83AC1B2F2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5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us/free/free-account-faq/" TargetMode="External"/><Relationship Id="rId3" Type="http://schemas.openxmlformats.org/officeDocument/2006/relationships/hyperlink" Target="https://dotnet.microsoft.com/download/dotnet-core/thank-you/runtime-aspnetcore-3.1.11-windows-hosting-bundle-installer" TargetMode="External"/><Relationship Id="rId7" Type="http://schemas.openxmlformats.org/officeDocument/2006/relationships/hyperlink" Target="https://docs.microsoft.com/en-us/windows/wsl/install-win10" TargetMode="External"/><Relationship Id="rId2" Type="http://schemas.openxmlformats.org/officeDocument/2006/relationships/hyperlink" Target="https://dotnet.microsoft.com/download/dotnet-core/3.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ocker.com/get-started" TargetMode="External"/><Relationship Id="rId5" Type="http://schemas.openxmlformats.org/officeDocument/2006/relationships/hyperlink" Target="https://www.jenkins.io/download/" TargetMode="External"/><Relationship Id="rId4" Type="http://schemas.openxmlformats.org/officeDocument/2006/relationships/hyperlink" Target="https://www.oracle.com/java/technologies/javase-jdk11-downloads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javase-jdk11-downloads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tnet.microsoft.com/download/dotnet-core/thank-you/runtime-aspnetcore-3.1.11-windows-hosting-bundle-installer" TargetMode="External"/><Relationship Id="rId4" Type="http://schemas.openxmlformats.org/officeDocument/2006/relationships/hyperlink" Target="https://dotnet.microsoft.com/download/dotnet-core/3.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ilyoctopus/CIC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106504E-5B0F-4E80-BE1D-CAE1BEF79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2605580"/>
            <a:ext cx="4286250" cy="262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FB1FEB5-6A2E-4B32-8142-7E7E59DFC0E6}"/>
              </a:ext>
            </a:extLst>
          </p:cNvPr>
          <p:cNvSpPr txBox="1">
            <a:spLocks/>
          </p:cNvSpPr>
          <p:nvPr/>
        </p:nvSpPr>
        <p:spPr>
          <a:xfrm>
            <a:off x="838200" y="574675"/>
            <a:ext cx="10515600" cy="9683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CI/CD Workshop</a:t>
            </a:r>
          </a:p>
        </p:txBody>
      </p:sp>
    </p:spTree>
    <p:extLst>
      <p:ext uri="{BB962C8B-B14F-4D97-AF65-F5344CB8AC3E}">
        <p14:creationId xmlns:p14="http://schemas.microsoft.com/office/powerpoint/2010/main" val="4028905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0DE9-37EA-42A6-AA94-CF33EE4F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C3FE-5375-4A3A-A476-A5D129743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0" y="1690688"/>
            <a:ext cx="32861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Explore CI/CD locally: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IIS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GitHub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.NET Core </a:t>
            </a:r>
            <a:r>
              <a:rPr lang="en-US" sz="1600" dirty="0">
                <a:solidFill>
                  <a:schemeClr val="bg1"/>
                </a:solidFill>
                <a:hlinkClick r:id="rId2"/>
              </a:rPr>
              <a:t>(3.1)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ASP.NET Core runtime </a:t>
            </a:r>
            <a:r>
              <a:rPr lang="en-US" sz="1600" dirty="0">
                <a:solidFill>
                  <a:schemeClr val="bg1"/>
                </a:solidFill>
                <a:hlinkClick r:id="rId3"/>
              </a:rPr>
              <a:t>(3.1)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Java Development Kit </a:t>
            </a:r>
            <a:r>
              <a:rPr lang="en-US" sz="1600" dirty="0">
                <a:solidFill>
                  <a:schemeClr val="bg1"/>
                </a:solidFill>
                <a:hlinkClick r:id="rId4"/>
              </a:rPr>
              <a:t>(11.*)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Jenkins </a:t>
            </a:r>
            <a:r>
              <a:rPr lang="en-US" sz="1600" dirty="0">
                <a:solidFill>
                  <a:schemeClr val="bg1"/>
                </a:solidFill>
                <a:hlinkClick r:id="rId5"/>
              </a:rPr>
              <a:t>(2.263.2)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Docker </a:t>
            </a:r>
            <a:r>
              <a:rPr lang="en-US" sz="1600" dirty="0">
                <a:solidFill>
                  <a:schemeClr val="bg1"/>
                </a:solidFill>
                <a:hlinkClick r:id="rId6"/>
              </a:rPr>
              <a:t>(3.0.4)</a:t>
            </a:r>
            <a:r>
              <a:rPr lang="en-US" sz="1600" dirty="0">
                <a:solidFill>
                  <a:schemeClr val="bg1"/>
                </a:solidFill>
              </a:rPr>
              <a:t> (if your OS supports it)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Win 10 Pro with Hyper-V or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Win 10 Home/Pro with </a:t>
            </a:r>
            <a:r>
              <a:rPr lang="en-US" sz="1600" dirty="0">
                <a:solidFill>
                  <a:schemeClr val="bg1"/>
                </a:solidFill>
                <a:hlinkClick r:id="rId7"/>
              </a:rPr>
              <a:t>WSL 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FB316E-E1C7-48FD-83FA-091498A6C86F}"/>
              </a:ext>
            </a:extLst>
          </p:cNvPr>
          <p:cNvSpPr txBox="1">
            <a:spLocks/>
          </p:cNvSpPr>
          <p:nvPr/>
        </p:nvSpPr>
        <p:spPr>
          <a:xfrm>
            <a:off x="7181850" y="1695451"/>
            <a:ext cx="3429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Explore CI/CD externally: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Azure Virtual Machines </a:t>
            </a:r>
            <a:r>
              <a:rPr lang="en-US" sz="1600" dirty="0">
                <a:solidFill>
                  <a:schemeClr val="bg1"/>
                </a:solidFill>
                <a:hlinkClick r:id="rId8"/>
              </a:rPr>
              <a:t>(free tier)</a:t>
            </a:r>
            <a:r>
              <a:rPr lang="en-US" sz="1600" dirty="0">
                <a:solidFill>
                  <a:schemeClr val="bg1"/>
                </a:solidFill>
              </a:rPr>
              <a:t>*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GitHub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.NET Core </a:t>
            </a:r>
            <a:r>
              <a:rPr lang="en-US" sz="1600" dirty="0">
                <a:solidFill>
                  <a:schemeClr val="bg1"/>
                </a:solidFill>
                <a:hlinkClick r:id="rId2"/>
              </a:rPr>
              <a:t>(3.1)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ASP.NET Core runtime </a:t>
            </a:r>
            <a:r>
              <a:rPr lang="en-US" sz="1600" dirty="0">
                <a:solidFill>
                  <a:schemeClr val="bg1"/>
                </a:solidFill>
                <a:hlinkClick r:id="rId3"/>
              </a:rPr>
              <a:t>(3.1)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Java Development Kit </a:t>
            </a:r>
            <a:r>
              <a:rPr lang="en-US" sz="1600" dirty="0">
                <a:solidFill>
                  <a:schemeClr val="bg1"/>
                </a:solidFill>
                <a:hlinkClick r:id="rId4"/>
              </a:rPr>
              <a:t>(11.*)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Jenkins </a:t>
            </a:r>
            <a:r>
              <a:rPr lang="en-US" sz="1600" dirty="0">
                <a:solidFill>
                  <a:schemeClr val="bg1"/>
                </a:solidFill>
                <a:hlinkClick r:id="rId5"/>
              </a:rPr>
              <a:t>(2.263.2)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Docker </a:t>
            </a:r>
            <a:r>
              <a:rPr lang="en-US" sz="1600" dirty="0">
                <a:solidFill>
                  <a:schemeClr val="bg1"/>
                </a:solidFill>
                <a:hlinkClick r:id="rId6"/>
              </a:rPr>
              <a:t>(3.0.4)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486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0DE9-37EA-42A6-AA94-CF33EE4F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Jenkins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C3FE-5375-4A3A-A476-A5D129743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1898" y="2471737"/>
            <a:ext cx="2768204" cy="260508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dirty="0" err="1">
                <a:solidFill>
                  <a:schemeClr val="bg1"/>
                </a:solidFill>
              </a:rPr>
              <a:t>Xunit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chemeClr val="bg1"/>
                </a:solidFill>
              </a:rPr>
              <a:t>Cobertura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Pipeline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Git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GitHub API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Workspace Cleanup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SSH Agent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60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0DE9-37EA-42A6-AA94-CF33EE4F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Workshop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C3FE-5375-4A3A-A476-A5D129743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2224"/>
            <a:ext cx="6392563" cy="3097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1. Prepare your workstation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2. Create basic CI job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3. Create CI job using “Pipeline”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4. Create CD job using IIS as a web server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5. Create CD job using Docker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6. Overview CD job using Docker, but implemented on the virtual machines in cloud</a:t>
            </a:r>
          </a:p>
        </p:txBody>
      </p:sp>
    </p:spTree>
    <p:extLst>
      <p:ext uri="{BB962C8B-B14F-4D97-AF65-F5344CB8AC3E}">
        <p14:creationId xmlns:p14="http://schemas.microsoft.com/office/powerpoint/2010/main" val="397930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8371-7E48-4F5B-B7E0-26AF2D69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723A3-806B-422F-AC57-86340D16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715533" cy="3943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CF2AA5-56D5-42DC-B2C4-433975C916B2}"/>
              </a:ext>
            </a:extLst>
          </p:cNvPr>
          <p:cNvSpPr txBox="1"/>
          <p:nvPr/>
        </p:nvSpPr>
        <p:spPr>
          <a:xfrm>
            <a:off x="7453441" y="2967335"/>
            <a:ext cx="3181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Java Development Kit </a:t>
            </a:r>
            <a:r>
              <a:rPr lang="en-US" sz="1800" dirty="0">
                <a:solidFill>
                  <a:schemeClr val="bg1"/>
                </a:solidFill>
                <a:hlinkClick r:id="rId3"/>
              </a:rPr>
              <a:t>(11.*)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/>
              <a:t>.NET Core </a:t>
            </a:r>
            <a:r>
              <a:rPr lang="en-US" sz="1800" dirty="0">
                <a:solidFill>
                  <a:schemeClr val="bg1"/>
                </a:solidFill>
                <a:hlinkClick r:id="rId4"/>
              </a:rPr>
              <a:t>(3.1)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/>
              <a:t>ASP.NET Core runtime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  <a:hlinkClick r:id="rId5"/>
              </a:rPr>
              <a:t>(3.1)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B9621-2645-46F7-9C82-BAA0A21157E0}"/>
              </a:ext>
            </a:extLst>
          </p:cNvPr>
          <p:cNvSpPr txBox="1"/>
          <p:nvPr/>
        </p:nvSpPr>
        <p:spPr>
          <a:xfrm>
            <a:off x="6096000" y="32443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25912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E00A-30C2-40B7-B3E2-197AE56F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Jenkins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93D1E-9B5C-4BF7-906B-989A83A91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628" y="1690688"/>
            <a:ext cx="4972744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9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6F5B-F1D3-4E72-AB28-1DAA3D37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Jenkins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F6875-A83A-45DC-B329-F2B8642D1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17" y="1690688"/>
            <a:ext cx="5306165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4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7F74C9-F8CF-40D3-AD7E-90749AEB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Install Jenkins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76A7F8-910C-449F-87F5-0ABC887ED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364" y="1690688"/>
            <a:ext cx="5163271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0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7F74C9-F8CF-40D3-AD7E-90749AEB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Install Jenkins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DCEBF-031D-42BE-A236-3E3D42958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101" y="1690688"/>
            <a:ext cx="5353797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7F74C9-F8CF-40D3-AD7E-90749AEB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Install Jenkins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99308-0071-40DF-B4B6-7233096DC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17" y="1690688"/>
            <a:ext cx="530616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41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F087-553F-4217-B734-73A46363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Jenkins, </a:t>
            </a:r>
            <a:r>
              <a:rPr lang="en-US" sz="4400" dirty="0"/>
              <a:t>http://localhost:8080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78239-78E1-41DC-BAA4-6F18ECB7F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784" y="2109581"/>
            <a:ext cx="7754432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96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F087-553F-4217-B734-73A46363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Jenkins, </a:t>
            </a:r>
            <a:r>
              <a:rPr lang="en-US" sz="4400" dirty="0"/>
              <a:t>http://localhost:8080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EE186-8F34-4EC5-8BD9-A087136DE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52" y="2195513"/>
            <a:ext cx="7487695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0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F087-553F-4217-B734-73A46363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Jenkins, </a:t>
            </a:r>
            <a:r>
              <a:rPr lang="en-US" sz="4400" dirty="0"/>
              <a:t>http://localhost:8080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7F84E-74B7-431E-83A6-EF401E98F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206" y="2409635"/>
            <a:ext cx="5639587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17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647A1A-95AA-422D-8F39-D6E9B829F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52" y="2090550"/>
            <a:ext cx="7849695" cy="26768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98F7A74-AC2F-49E1-A748-F23ED36D4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Install Jenkins, </a:t>
            </a:r>
            <a:r>
              <a:rPr lang="en-US" sz="4400" dirty="0"/>
              <a:t>http://localhost:8080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05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D8B5-410B-4ACD-A656-9AA5F92F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40E05-3692-41D2-A07E-1CA2E49EE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601" y="1900024"/>
            <a:ext cx="5534797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0DE9-37EA-42A6-AA94-CF33EE4F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8C3FE-5375-4A3A-A476-A5D129743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475" y="2286387"/>
            <a:ext cx="4867050" cy="49800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hlinkClick r:id="rId2"/>
              </a:rPr>
              <a:t>https://github.com/wilyoctopus/CICD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F90E394-52D5-4A08-8BD5-6DA2E3A9B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503" y="4226496"/>
            <a:ext cx="1126936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Export job: java -jar jenkins-cli.jar -s http://localhost:8080 get-job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myjob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&gt; myjob.xml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Import job: java -jar jenkins-cli.jar -s http://localhost:8080 create-job </a:t>
            </a:r>
            <a:r>
              <a:rPr lang="en-US" alt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mynew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job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&lt; myjob.xml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Jenkins CLI jar can be downloaded directly from your Jenkins instance: http://localhost:8080/jnlpJars/jenkins-cli.jar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262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3213</TotalTime>
  <Words>319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PowerPoint Presentation</vt:lpstr>
      <vt:lpstr>Tools</vt:lpstr>
      <vt:lpstr>Jenkins plugins</vt:lpstr>
      <vt:lpstr>Workshop plan</vt:lpstr>
      <vt:lpstr>Prepare environment</vt:lpstr>
      <vt:lpstr>Install Jenkins</vt:lpstr>
      <vt:lpstr>Install Jenkins</vt:lpstr>
      <vt:lpstr>Install Jenkins</vt:lpstr>
      <vt:lpstr>Install Jenkins</vt:lpstr>
      <vt:lpstr>Install Jenkins</vt:lpstr>
      <vt:lpstr>Install Jenkins, http://localhost:8080</vt:lpstr>
      <vt:lpstr>Install Jenkins, http://localhost:8080</vt:lpstr>
      <vt:lpstr>Install Jenkins, http://localhost:8080</vt:lpstr>
      <vt:lpstr>Install Jenkins, http://localhost:8080</vt:lpstr>
      <vt:lpstr>Docker</vt:lpstr>
      <vt:lpstr>Source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Yaroslav Zakharchuk</dc:creator>
  <cp:lastModifiedBy>Yaroslav Zakharchuk</cp:lastModifiedBy>
  <cp:revision>10</cp:revision>
  <dcterms:created xsi:type="dcterms:W3CDTF">2021-01-19T02:30:19Z</dcterms:created>
  <dcterms:modified xsi:type="dcterms:W3CDTF">2021-01-21T14:03:07Z</dcterms:modified>
</cp:coreProperties>
</file>